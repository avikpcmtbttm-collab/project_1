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BC1F"/>
    <a:srgbClr val="E66C36"/>
    <a:srgbClr val="CCDDEA"/>
    <a:srgbClr val="D60000"/>
    <a:srgbClr val="FD8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20" autoAdjust="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vikp\Downloads\dataset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vikp\Downloads\dataset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vikp\Downloads\dataset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[dataset_1.xlsx]Pivot_Hourly!PivotTable1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Hourly Rental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Pivot_Hourly!$B$3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Pivot_Hourly!$A$4:$A$28</c:f>
              <c:strCache>
                <c:ptCount val="24"/>
                <c:pt idx="0">
                  <c:v>17:00</c:v>
                </c:pt>
                <c:pt idx="1">
                  <c:v>08:00</c:v>
                </c:pt>
                <c:pt idx="2">
                  <c:v>18:00</c:v>
                </c:pt>
                <c:pt idx="3">
                  <c:v>16:00</c:v>
                </c:pt>
                <c:pt idx="4">
                  <c:v>09:00</c:v>
                </c:pt>
                <c:pt idx="5">
                  <c:v>19:00</c:v>
                </c:pt>
                <c:pt idx="6">
                  <c:v>13:00</c:v>
                </c:pt>
                <c:pt idx="7">
                  <c:v>15:00</c:v>
                </c:pt>
                <c:pt idx="8">
                  <c:v>12:00</c:v>
                </c:pt>
                <c:pt idx="9">
                  <c:v>14:00</c:v>
                </c:pt>
                <c:pt idx="10">
                  <c:v>20:00</c:v>
                </c:pt>
                <c:pt idx="11">
                  <c:v>11:00</c:v>
                </c:pt>
                <c:pt idx="12">
                  <c:v>07:00</c:v>
                </c:pt>
                <c:pt idx="13">
                  <c:v>10:00</c:v>
                </c:pt>
                <c:pt idx="14">
                  <c:v>21:00</c:v>
                </c:pt>
                <c:pt idx="15">
                  <c:v>22:00</c:v>
                </c:pt>
                <c:pt idx="16">
                  <c:v>23:00</c:v>
                </c:pt>
                <c:pt idx="17">
                  <c:v>06:00</c:v>
                </c:pt>
                <c:pt idx="18">
                  <c:v>00:00</c:v>
                </c:pt>
                <c:pt idx="19">
                  <c:v>01:00</c:v>
                </c:pt>
                <c:pt idx="20">
                  <c:v>02:00</c:v>
                </c:pt>
                <c:pt idx="21">
                  <c:v>05:00</c:v>
                </c:pt>
                <c:pt idx="22">
                  <c:v>03:00</c:v>
                </c:pt>
                <c:pt idx="23">
                  <c:v>04:00</c:v>
                </c:pt>
              </c:strCache>
            </c:strRef>
          </c:cat>
          <c:val>
            <c:numRef>
              <c:f>Pivot_Hourly!$B$4:$B$28</c:f>
              <c:numCache>
                <c:formatCode>General</c:formatCode>
                <c:ptCount val="24"/>
                <c:pt idx="0">
                  <c:v>6169</c:v>
                </c:pt>
                <c:pt idx="1">
                  <c:v>5388</c:v>
                </c:pt>
                <c:pt idx="2">
                  <c:v>5283</c:v>
                </c:pt>
                <c:pt idx="3">
                  <c:v>3928</c:v>
                </c:pt>
                <c:pt idx="4">
                  <c:v>3672</c:v>
                </c:pt>
                <c:pt idx="5">
                  <c:v>3661</c:v>
                </c:pt>
                <c:pt idx="6">
                  <c:v>3376</c:v>
                </c:pt>
                <c:pt idx="7">
                  <c:v>3352</c:v>
                </c:pt>
                <c:pt idx="8">
                  <c:v>3283</c:v>
                </c:pt>
                <c:pt idx="9">
                  <c:v>3200</c:v>
                </c:pt>
                <c:pt idx="10">
                  <c:v>2656</c:v>
                </c:pt>
                <c:pt idx="11">
                  <c:v>2494</c:v>
                </c:pt>
                <c:pt idx="12">
                  <c:v>2339</c:v>
                </c:pt>
                <c:pt idx="13">
                  <c:v>2253</c:v>
                </c:pt>
                <c:pt idx="14">
                  <c:v>1996</c:v>
                </c:pt>
                <c:pt idx="15">
                  <c:v>1508</c:v>
                </c:pt>
                <c:pt idx="16">
                  <c:v>1083</c:v>
                </c:pt>
                <c:pt idx="17">
                  <c:v>822</c:v>
                </c:pt>
                <c:pt idx="18">
                  <c:v>703</c:v>
                </c:pt>
                <c:pt idx="19">
                  <c:v>460</c:v>
                </c:pt>
                <c:pt idx="20">
                  <c:v>294</c:v>
                </c:pt>
                <c:pt idx="21">
                  <c:v>164</c:v>
                </c:pt>
                <c:pt idx="22">
                  <c:v>151</c:v>
                </c:pt>
                <c:pt idx="23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13-46EB-9408-F1F408885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7143408"/>
        <c:axId val="1377143888"/>
      </c:barChart>
      <c:catAx>
        <c:axId val="137714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143888"/>
        <c:crosses val="autoZero"/>
        <c:auto val="1"/>
        <c:lblAlgn val="ctr"/>
        <c:lblOffset val="100"/>
        <c:noMultiLvlLbl val="0"/>
      </c:catAx>
      <c:valAx>
        <c:axId val="137714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143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[dataset_1.xlsx]Pivot_Weather_Sit!PivotTable1</c:name>
    <c:fmtId val="1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Pivot_Weather_Sit!$B$3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Pivot_Weather_Sit!$A$4:$A$8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Heavy Rain</c:v>
                </c:pt>
                <c:pt idx="3">
                  <c:v>Light Rain</c:v>
                </c:pt>
              </c:strCache>
            </c:strRef>
          </c:cat>
          <c:val>
            <c:numRef>
              <c:f>Pivot_Weather_Sit!$B$4:$B$8</c:f>
              <c:numCache>
                <c:formatCode>General</c:formatCode>
                <c:ptCount val="4"/>
                <c:pt idx="0">
                  <c:v>3211</c:v>
                </c:pt>
                <c:pt idx="1">
                  <c:v>1538</c:v>
                </c:pt>
                <c:pt idx="2">
                  <c:v>1</c:v>
                </c:pt>
                <c:pt idx="3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4-4806-9B6C-7A1FFA57FF97}"/>
            </c:ext>
          </c:extLst>
        </c:ser>
        <c:ser>
          <c:idx val="1"/>
          <c:order val="1"/>
          <c:tx>
            <c:strRef>
              <c:f>Pivot_Weather_Sit!$C$3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Pivot_Weather_Sit!$A$4:$A$8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Heavy Rain</c:v>
                </c:pt>
                <c:pt idx="3">
                  <c:v>Light Rain</c:v>
                </c:pt>
              </c:strCache>
            </c:strRef>
          </c:cat>
          <c:val>
            <c:numRef>
              <c:f>Pivot_Weather_Sit!$C$4:$C$8</c:f>
              <c:numCache>
                <c:formatCode>General</c:formatCode>
                <c:ptCount val="4"/>
                <c:pt idx="0">
                  <c:v>34162</c:v>
                </c:pt>
                <c:pt idx="1">
                  <c:v>16568</c:v>
                </c:pt>
                <c:pt idx="2">
                  <c:v>35</c:v>
                </c:pt>
                <c:pt idx="3">
                  <c:v>2618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F4-4806-9B6C-7A1FFA57FF97}"/>
            </c:ext>
          </c:extLst>
        </c:ser>
        <c:ser>
          <c:idx val="2"/>
          <c:order val="2"/>
          <c:tx>
            <c:strRef>
              <c:f>Pivot_Weather_Sit!$D$3</c:f>
              <c:strCache>
                <c:ptCount val="1"/>
                <c:pt idx="0">
                  <c:v>Sum of Total Count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Pivot_Weather_Sit!$A$4:$A$8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Heavy Rain</c:v>
                </c:pt>
                <c:pt idx="3">
                  <c:v>Light Rain</c:v>
                </c:pt>
              </c:strCache>
            </c:strRef>
          </c:cat>
          <c:val>
            <c:numRef>
              <c:f>Pivot_Weather_Sit!$D$4:$D$8</c:f>
              <c:numCache>
                <c:formatCode>General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36</c:v>
                </c:pt>
                <c:pt idx="3">
                  <c:v>2789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F4-4806-9B6C-7A1FFA57FF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719264399"/>
        <c:axId val="719268239"/>
      </c:barChart>
      <c:catAx>
        <c:axId val="7192643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9268239"/>
        <c:crosses val="autoZero"/>
        <c:auto val="1"/>
        <c:lblAlgn val="ctr"/>
        <c:lblOffset val="100"/>
        <c:noMultiLvlLbl val="0"/>
      </c:catAx>
      <c:valAx>
        <c:axId val="719268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9264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[dataset_1.xlsx]Pivot_Weekday!PivotTable2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Pivot_Weekday!$B$3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Pivot_Weekday!$A$4:$A$11</c:f>
              <c:strCache>
                <c:ptCount val="7"/>
                <c:pt idx="0">
                  <c:v>Friday</c:v>
                </c:pt>
                <c:pt idx="1">
                  <c:v>Thursday</c:v>
                </c:pt>
                <c:pt idx="2">
                  <c:v>Monday</c:v>
                </c:pt>
                <c:pt idx="3">
                  <c:v>Tuesday</c:v>
                </c:pt>
                <c:pt idx="4">
                  <c:v>Sunday</c:v>
                </c:pt>
                <c:pt idx="5">
                  <c:v>Wednesday</c:v>
                </c:pt>
                <c:pt idx="6">
                  <c:v>Saturday</c:v>
                </c:pt>
              </c:strCache>
            </c:strRef>
          </c:cat>
          <c:val>
            <c:numRef>
              <c:f>Pivot_Weekday!$B$4:$B$11</c:f>
              <c:numCache>
                <c:formatCode>General</c:formatCode>
                <c:ptCount val="7"/>
                <c:pt idx="0">
                  <c:v>552</c:v>
                </c:pt>
                <c:pt idx="1">
                  <c:v>332</c:v>
                </c:pt>
                <c:pt idx="2">
                  <c:v>534</c:v>
                </c:pt>
                <c:pt idx="3">
                  <c:v>457</c:v>
                </c:pt>
                <c:pt idx="4">
                  <c:v>1477</c:v>
                </c:pt>
                <c:pt idx="5">
                  <c:v>344</c:v>
                </c:pt>
                <c:pt idx="6">
                  <c:v>1225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1E-480F-9EF1-1AC705A6230D}"/>
            </c:ext>
          </c:extLst>
        </c:ser>
        <c:ser>
          <c:idx val="1"/>
          <c:order val="1"/>
          <c:tx>
            <c:strRef>
              <c:f>Pivot_Weekday!$C$3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Pivot_Weekday!$A$4:$A$11</c:f>
              <c:strCache>
                <c:ptCount val="7"/>
                <c:pt idx="0">
                  <c:v>Friday</c:v>
                </c:pt>
                <c:pt idx="1">
                  <c:v>Thursday</c:v>
                </c:pt>
                <c:pt idx="2">
                  <c:v>Monday</c:v>
                </c:pt>
                <c:pt idx="3">
                  <c:v>Tuesday</c:v>
                </c:pt>
                <c:pt idx="4">
                  <c:v>Sunday</c:v>
                </c:pt>
                <c:pt idx="5">
                  <c:v>Wednesday</c:v>
                </c:pt>
                <c:pt idx="6">
                  <c:v>Saturday</c:v>
                </c:pt>
              </c:strCache>
            </c:strRef>
          </c:cat>
          <c:val>
            <c:numRef>
              <c:f>Pivot_Weekday!$C$4:$C$11</c:f>
              <c:numCache>
                <c:formatCode>General</c:formatCode>
                <c:ptCount val="7"/>
                <c:pt idx="0">
                  <c:v>8543</c:v>
                </c:pt>
                <c:pt idx="1">
                  <c:v>8126</c:v>
                </c:pt>
                <c:pt idx="2">
                  <c:v>7916</c:v>
                </c:pt>
                <c:pt idx="3">
                  <c:v>7926</c:v>
                </c:pt>
                <c:pt idx="4">
                  <c:v>6644</c:v>
                </c:pt>
                <c:pt idx="5">
                  <c:v>7705</c:v>
                </c:pt>
                <c:pt idx="6">
                  <c:v>6523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1E-480F-9EF1-1AC705A6230D}"/>
            </c:ext>
          </c:extLst>
        </c:ser>
        <c:ser>
          <c:idx val="2"/>
          <c:order val="2"/>
          <c:tx>
            <c:strRef>
              <c:f>Pivot_Weekday!$D$3</c:f>
              <c:strCache>
                <c:ptCount val="1"/>
                <c:pt idx="0">
                  <c:v>Sum of Total Count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Pivot_Weekday!$A$4:$A$11</c:f>
              <c:strCache>
                <c:ptCount val="7"/>
                <c:pt idx="0">
                  <c:v>Friday</c:v>
                </c:pt>
                <c:pt idx="1">
                  <c:v>Thursday</c:v>
                </c:pt>
                <c:pt idx="2">
                  <c:v>Monday</c:v>
                </c:pt>
                <c:pt idx="3">
                  <c:v>Tuesday</c:v>
                </c:pt>
                <c:pt idx="4">
                  <c:v>Sunday</c:v>
                </c:pt>
                <c:pt idx="5">
                  <c:v>Wednesday</c:v>
                </c:pt>
                <c:pt idx="6">
                  <c:v>Saturday</c:v>
                </c:pt>
              </c:strCache>
            </c:strRef>
          </c:cat>
          <c:val>
            <c:numRef>
              <c:f>Pivot_Weekday!$D$4:$D$11</c:f>
              <c:numCache>
                <c:formatCode>General</c:formatCode>
                <c:ptCount val="7"/>
                <c:pt idx="0">
                  <c:v>9095</c:v>
                </c:pt>
                <c:pt idx="1">
                  <c:v>8458</c:v>
                </c:pt>
                <c:pt idx="2">
                  <c:v>8450</c:v>
                </c:pt>
                <c:pt idx="3">
                  <c:v>8383</c:v>
                </c:pt>
                <c:pt idx="4">
                  <c:v>8121</c:v>
                </c:pt>
                <c:pt idx="5">
                  <c:v>8049</c:v>
                </c:pt>
                <c:pt idx="6">
                  <c:v>7748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1E-480F-9EF1-1AC705A623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458384879"/>
        <c:axId val="458381999"/>
      </c:barChart>
      <c:catAx>
        <c:axId val="45838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8381999"/>
        <c:crosses val="autoZero"/>
        <c:auto val="1"/>
        <c:lblAlgn val="ctr"/>
        <c:lblOffset val="100"/>
        <c:noMultiLvlLbl val="0"/>
      </c:catAx>
      <c:valAx>
        <c:axId val="45838199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838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4B08-DF4F-E546-E970-FA39D52CA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A2393-7A61-7ED2-F5ED-FF158195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0213D-3EAB-B0DF-8C5E-58683774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B4BE-6A93-EF90-2E83-E54C66DD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152F9-1EE1-450F-C406-0FB4A570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00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4B1D-ABCE-47A4-2911-E3DF55F1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36F5B-03C7-7AF3-ADF2-E1B5258B7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C863-5B38-F50B-7BF1-75A3EFC4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81F0F-1152-7ED0-0910-068F5AE9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F8008-661A-766B-6272-2474E9BD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2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00A5-EC5A-88C2-4937-68DEC70A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3A7C0-4AB1-907B-E0D8-7B4CB6A8A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C4B07-AF98-31B6-12E6-AEF39223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CB15-25E8-131C-C2B7-FA646CB1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E096-0820-9C55-0DEF-D66DD6F4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12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1E3D-99D0-ED6B-B1AB-F2A24541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B7171-276C-CCE9-4044-0403FCB01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39C52-EB2E-CCA8-1125-B4A5D72DE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AB809-9A27-EFE8-7B01-C90592A8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80574-ED02-A444-9B9C-35DA0C04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91FA2-9E61-519B-4AA2-EE7FAB0B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8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C8E4-6EB2-2793-F210-C693D97C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EC28C-5474-95A1-4A33-877034A3B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A252B-AA02-9645-A60B-96C68EF26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F40D9-6283-D635-2668-B2E9E8708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6D313-5036-69D3-C3FE-C1F87FD30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2C48C-3964-250D-0ACD-9706A67B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CA440-95D6-8D09-FD3D-022D2634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E2957-E677-82E2-2A28-E32FBD89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2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72EA-784F-C3ED-7FE5-15C217ED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78FF7-8788-53EA-1AA9-58DB0C54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2997B-3039-CCB5-4628-5BA3EDB4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21D41-4471-836E-6581-C99EAEFE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8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77E7D-BC0B-8FD1-C483-CCDF7252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7B98C-AF35-4F4E-D5BC-209CFDE9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D10E-813D-1D4D-8885-DB2E2069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0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FEB9-F7D1-3E70-91CB-FA116718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8843-4DA9-6817-75E4-46B5D6899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52930-FA9F-CAC2-E23A-8FE997036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23E3B-1B27-FBA0-E314-A3D1BD91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195F4-5FA5-9FDE-2BE4-F28D872D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E4AD1-A00C-6990-7C48-D5F1666A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4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6546-6D02-733A-A33E-5035A956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E1D9E-16CC-DF30-B55A-8E6EC7FBF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756B8-9974-DA03-270A-F7A57C26D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DF6B7-B2D3-E876-5FA0-7CCDAD18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6731E-4B41-1B56-174C-69376DB7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46CAF-527E-21DE-3208-E7AA199E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5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874D-9830-3EBD-C91F-3573711C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31BC0-7599-10EE-1683-8383B8617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4FC4D-6380-BFF0-4E1D-C151FFDE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5A3C3-C963-83C4-8406-198A9FD2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5F9A-2509-586F-4EAA-B47F4FC3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0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9BB998-F5B0-1825-0D89-C7AB8995A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C050A-3E4A-4307-C4A6-3E3382EFE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82F60-5734-153D-0ADC-C206E576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B3898-1C56-3F74-770B-431A0B3E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8D201-97B0-7838-43C9-18B3AA6C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71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11F7E-B194-0280-3E50-04A1D6A1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27880-DFE2-B0CC-C996-AC3EF745D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0AE27-7079-7111-AAAA-F24C6A065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23997-11C6-47EA-AD5C-3B25AEEAE996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D2E28-B642-34B2-A304-CF4525E4C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DE10D-F2E0-C93C-30F1-CC9FEB4D2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2F5E1-E6A4-4AE2-B48A-73905857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0AA329-B27C-2C54-BA9F-783312967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507" y="1000369"/>
            <a:ext cx="5736493" cy="4095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80EA4-96CB-3217-5CF2-5F58B236B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976" y="2223325"/>
            <a:ext cx="7421880" cy="1205675"/>
          </a:xfrm>
        </p:spPr>
        <p:txBody>
          <a:bodyPr>
            <a:normAutofit fontScale="90000"/>
          </a:bodyPr>
          <a:lstStyle/>
          <a:p>
            <a:pPr algn="l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Rental Data Analysis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A0684-0C72-1BC9-C470-2CBF77254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76" y="3429000"/>
            <a:ext cx="9144000" cy="476186"/>
          </a:xfrm>
        </p:spPr>
        <p:txBody>
          <a:bodyPr>
            <a:no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Excel Project: Transforming Raw Data into Actionable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CEA0FC-C241-FEE5-78D0-70A004749D42}"/>
              </a:ext>
            </a:extLst>
          </p:cNvPr>
          <p:cNvSpPr txBox="1">
            <a:spLocks/>
          </p:cNvSpPr>
          <p:nvPr/>
        </p:nvSpPr>
        <p:spPr>
          <a:xfrm>
            <a:off x="449107" y="5780690"/>
            <a:ext cx="3374031" cy="476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Avik Dhar Chowdhury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752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50E165C-5030-E503-0DB4-5B83AC800D8C}"/>
              </a:ext>
            </a:extLst>
          </p:cNvPr>
          <p:cNvSpPr/>
          <p:nvPr/>
        </p:nvSpPr>
        <p:spPr>
          <a:xfrm>
            <a:off x="5486400" y="987425"/>
            <a:ext cx="6541477" cy="4702175"/>
          </a:xfrm>
          <a:prstGeom prst="rect">
            <a:avLst/>
          </a:prstGeom>
          <a:solidFill>
            <a:srgbClr val="CCDDE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5CEE9-5A59-C377-3D80-8A0312F3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832" y="987425"/>
            <a:ext cx="1043720" cy="252046"/>
          </a:xfrm>
        </p:spPr>
        <p:txBody>
          <a:bodyPr>
            <a:normAutofit/>
          </a:bodyPr>
          <a:lstStyle/>
          <a:p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Scope</a:t>
            </a:r>
          </a:p>
        </p:txBody>
      </p:sp>
      <p:pic>
        <p:nvPicPr>
          <p:cNvPr id="8" name="Picture Placeholder 7" descr="Bullseye with solid fill">
            <a:extLst>
              <a:ext uri="{FF2B5EF4-FFF2-40B4-BE49-F238E27FC236}">
                <a16:creationId xmlns:a16="http://schemas.microsoft.com/office/drawing/2014/main" id="{64E37AFD-BC79-5B29-3260-0C8C3DFFA2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520" b="10520"/>
          <a:stretch>
            <a:fillRect/>
          </a:stretch>
        </p:blipFill>
        <p:spPr>
          <a:xfrm>
            <a:off x="5964728" y="1239471"/>
            <a:ext cx="424985" cy="3355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C7900-5490-EAA3-2CA1-0586F37D8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182078"/>
            <a:ext cx="3932237" cy="33410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Project Overview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4605FB3-94CE-F260-A2CB-07916EF01093}"/>
              </a:ext>
            </a:extLst>
          </p:cNvPr>
          <p:cNvSpPr txBox="1">
            <a:spLocks/>
          </p:cNvSpPr>
          <p:nvPr/>
        </p:nvSpPr>
        <p:spPr>
          <a:xfrm>
            <a:off x="836612" y="1516185"/>
            <a:ext cx="3932237" cy="334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Defining the core objectives and technical stack used for this data-driven analysis.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8D163B91-FFB9-ACD8-F5A8-E1D9A75EE437}"/>
              </a:ext>
            </a:extLst>
          </p:cNvPr>
          <p:cNvSpPr/>
          <p:nvPr/>
        </p:nvSpPr>
        <p:spPr>
          <a:xfrm>
            <a:off x="912987" y="1053855"/>
            <a:ext cx="144220" cy="128223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A528FA-4556-7FAD-476C-CC1EE62BFE58}"/>
              </a:ext>
            </a:extLst>
          </p:cNvPr>
          <p:cNvSpPr txBox="1"/>
          <p:nvPr/>
        </p:nvSpPr>
        <p:spPr>
          <a:xfrm>
            <a:off x="6330463" y="1230406"/>
            <a:ext cx="5097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specific rental demand patterns based on temporal factors, weather 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 descr="Newspaper with solid fill">
            <a:extLst>
              <a:ext uri="{FF2B5EF4-FFF2-40B4-BE49-F238E27FC236}">
                <a16:creationId xmlns:a16="http://schemas.microsoft.com/office/drawing/2014/main" id="{D5AB3077-AB81-3107-F031-36CFD7ACC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2688" y="2268414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FA1AAD-97F6-C913-BA2C-0EFE6B7630CF}"/>
              </a:ext>
            </a:extLst>
          </p:cNvPr>
          <p:cNvSpPr txBox="1"/>
          <p:nvPr/>
        </p:nvSpPr>
        <p:spPr>
          <a:xfrm>
            <a:off x="6330463" y="2343125"/>
            <a:ext cx="5432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 complete automated workflow starting from raw datasets to a final dataset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raphic 14" descr="Daily calendar with solid fill">
            <a:extLst>
              <a:ext uri="{FF2B5EF4-FFF2-40B4-BE49-F238E27FC236}">
                <a16:creationId xmlns:a16="http://schemas.microsoft.com/office/drawing/2014/main" id="{9FC60984-70AE-19E7-3DCF-F2218C013B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0100" y="3418985"/>
            <a:ext cx="484045" cy="4840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244E5B-3251-48FE-2398-5DDC6310C54F}"/>
              </a:ext>
            </a:extLst>
          </p:cNvPr>
          <p:cNvSpPr txBox="1"/>
          <p:nvPr/>
        </p:nvSpPr>
        <p:spPr>
          <a:xfrm>
            <a:off x="6389713" y="3524475"/>
            <a:ext cx="4451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 Microsoft Excel as the primary engine for data engineering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Graphic 17" descr="Open book with solid fill">
            <a:extLst>
              <a:ext uri="{FF2B5EF4-FFF2-40B4-BE49-F238E27FC236}">
                <a16:creationId xmlns:a16="http://schemas.microsoft.com/office/drawing/2014/main" id="{0729EDCB-C57D-B5A2-B8DD-87EF37EBFC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3096" y="4596401"/>
            <a:ext cx="484045" cy="4840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2805A69-992C-CB02-0C45-22F2BDA9FF1E}"/>
              </a:ext>
            </a:extLst>
          </p:cNvPr>
          <p:cNvSpPr txBox="1"/>
          <p:nvPr/>
        </p:nvSpPr>
        <p:spPr>
          <a:xfrm>
            <a:off x="6467141" y="4699923"/>
            <a:ext cx="5114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 Power Query, Pivot Tables, and dynamic charts to create a scalable data.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2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" grpId="0"/>
      <p:bldP spid="4" grpId="0" build="p"/>
      <p:bldP spid="5" grpId="0"/>
      <p:bldP spid="10" grpId="0"/>
      <p:bldP spid="13" grpId="0"/>
      <p:bldP spid="16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1C6D2D-C438-5BA7-F7CD-615A34031439}"/>
              </a:ext>
            </a:extLst>
          </p:cNvPr>
          <p:cNvSpPr/>
          <p:nvPr/>
        </p:nvSpPr>
        <p:spPr>
          <a:xfrm>
            <a:off x="8005281" y="2990117"/>
            <a:ext cx="1983154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6D8CB-9379-1C3D-5C3B-3815C0BE3653}"/>
              </a:ext>
            </a:extLst>
          </p:cNvPr>
          <p:cNvSpPr/>
          <p:nvPr/>
        </p:nvSpPr>
        <p:spPr>
          <a:xfrm>
            <a:off x="5630630" y="2990117"/>
            <a:ext cx="1983154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390B8D-B84F-6711-8AC0-BA76F7EF39F5}"/>
              </a:ext>
            </a:extLst>
          </p:cNvPr>
          <p:cNvSpPr/>
          <p:nvPr/>
        </p:nvSpPr>
        <p:spPr>
          <a:xfrm>
            <a:off x="3216903" y="2990117"/>
            <a:ext cx="2058481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DF468-A141-6591-3EC2-010982CA25FF}"/>
              </a:ext>
            </a:extLst>
          </p:cNvPr>
          <p:cNvSpPr/>
          <p:nvPr/>
        </p:nvSpPr>
        <p:spPr>
          <a:xfrm>
            <a:off x="838200" y="2990117"/>
            <a:ext cx="1983154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DD4BC-6119-948B-4986-369C4767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8427"/>
            <a:ext cx="998415" cy="212847"/>
          </a:xfrm>
        </p:spPr>
        <p:txBody>
          <a:bodyPr>
            <a:normAutofit/>
          </a:bodyPr>
          <a:lstStyle/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8C03-24DB-7503-3BBD-961B1B098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990117"/>
            <a:ext cx="2217615" cy="2027360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 three distinct datasets containing granular hourly and daily rental information.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B4D007B1-D6A7-F5D7-ED1E-9DB9EE407560}"/>
              </a:ext>
            </a:extLst>
          </p:cNvPr>
          <p:cNvSpPr/>
          <p:nvPr/>
        </p:nvSpPr>
        <p:spPr>
          <a:xfrm>
            <a:off x="838200" y="1399687"/>
            <a:ext cx="164123" cy="133960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B0EBF-9A7E-C272-110B-69E502948F22}"/>
              </a:ext>
            </a:extLst>
          </p:cNvPr>
          <p:cNvSpPr txBox="1"/>
          <p:nvPr/>
        </p:nvSpPr>
        <p:spPr>
          <a:xfrm>
            <a:off x="724876" y="1474850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Dataset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A9C25-B9E5-8E84-E63F-B60B59BF4682}"/>
              </a:ext>
            </a:extLst>
          </p:cNvPr>
          <p:cNvSpPr txBox="1"/>
          <p:nvPr/>
        </p:nvSpPr>
        <p:spPr>
          <a:xfrm>
            <a:off x="724876" y="1765456"/>
            <a:ext cx="4984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the key variables and data structures used in the analysis.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2B1CFE-F353-5CE2-16CF-A96D56EA2DAD}"/>
              </a:ext>
            </a:extLst>
          </p:cNvPr>
          <p:cNvSpPr txBox="1"/>
          <p:nvPr/>
        </p:nvSpPr>
        <p:spPr>
          <a:xfrm>
            <a:off x="8005572" y="2920694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1350E-F631-C52F-2EF3-B0735F79DF86}"/>
              </a:ext>
            </a:extLst>
          </p:cNvPr>
          <p:cNvSpPr txBox="1"/>
          <p:nvPr/>
        </p:nvSpPr>
        <p:spPr>
          <a:xfrm>
            <a:off x="5626868" y="292069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FAE23-713D-F7EE-28B1-AC02EAD3717B}"/>
              </a:ext>
            </a:extLst>
          </p:cNvPr>
          <p:cNvSpPr txBox="1"/>
          <p:nvPr/>
        </p:nvSpPr>
        <p:spPr>
          <a:xfrm>
            <a:off x="3216904" y="292069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F218AA-7166-16BA-515B-A6F003A79DAF}"/>
              </a:ext>
            </a:extLst>
          </p:cNvPr>
          <p:cNvSpPr txBox="1"/>
          <p:nvPr/>
        </p:nvSpPr>
        <p:spPr>
          <a:xfrm>
            <a:off x="3184926" y="4064000"/>
            <a:ext cx="2214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variables include Temperature, Humidity, and Windspeed for weather-impact analysis.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98333D-D073-B8F5-F341-64392A3E7E63}"/>
              </a:ext>
            </a:extLst>
          </p:cNvPr>
          <p:cNvSpPr txBox="1"/>
          <p:nvPr/>
        </p:nvSpPr>
        <p:spPr>
          <a:xfrm>
            <a:off x="5721586" y="4003797"/>
            <a:ext cx="1809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segmentation tracking for Casual Users versus Registered Users to determine loyalty trends.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041BD9-D4A8-819F-8C1F-5909F32BF62B}"/>
              </a:ext>
            </a:extLst>
          </p:cNvPr>
          <p:cNvSpPr txBox="1"/>
          <p:nvPr/>
        </p:nvSpPr>
        <p:spPr>
          <a:xfrm>
            <a:off x="7969030" y="4003797"/>
            <a:ext cx="2172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metric defined as the Total Count of bike rentals across all specified timeframes.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73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8" grpId="0" animBg="1"/>
      <p:bldP spid="2" grpId="0"/>
      <p:bldP spid="3" grpId="0" build="p"/>
      <p:bldP spid="5" grpId="0" animBg="1"/>
      <p:bldP spid="6" grpId="0"/>
      <p:bldP spid="7" grpId="0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5A47-30C1-8712-ECF0-E8F50245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546" y="349494"/>
            <a:ext cx="5718908" cy="49456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Cleaning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77360-368D-D08D-FD10-E9294D4C5B4E}"/>
              </a:ext>
            </a:extLst>
          </p:cNvPr>
          <p:cNvSpPr txBox="1"/>
          <p:nvPr/>
        </p:nvSpPr>
        <p:spPr>
          <a:xfrm>
            <a:off x="3282569" y="773723"/>
            <a:ext cx="5626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integrity through rigorous cleaning and standardization steps.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42D77D2-3746-055B-D87A-528A90BEDDF8}"/>
              </a:ext>
            </a:extLst>
          </p:cNvPr>
          <p:cNvSpPr/>
          <p:nvPr/>
        </p:nvSpPr>
        <p:spPr>
          <a:xfrm>
            <a:off x="855793" y="2907320"/>
            <a:ext cx="1680307" cy="1680307"/>
          </a:xfrm>
          <a:prstGeom prst="ellipse">
            <a:avLst/>
          </a:prstGeom>
          <a:solidFill>
            <a:srgbClr val="CCDDE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B81C57-8CFA-48E8-8702-EC2F4B8C7DCD}"/>
              </a:ext>
            </a:extLst>
          </p:cNvPr>
          <p:cNvSpPr/>
          <p:nvPr/>
        </p:nvSpPr>
        <p:spPr>
          <a:xfrm>
            <a:off x="3157420" y="2907319"/>
            <a:ext cx="1680307" cy="1680307"/>
          </a:xfrm>
          <a:prstGeom prst="ellipse">
            <a:avLst/>
          </a:prstGeom>
          <a:solidFill>
            <a:srgbClr val="CCDDE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BC9B8B-1388-1FA6-454A-B13D0C83F238}"/>
              </a:ext>
            </a:extLst>
          </p:cNvPr>
          <p:cNvSpPr/>
          <p:nvPr/>
        </p:nvSpPr>
        <p:spPr>
          <a:xfrm>
            <a:off x="5459048" y="2915137"/>
            <a:ext cx="1680307" cy="1680307"/>
          </a:xfrm>
          <a:prstGeom prst="ellipse">
            <a:avLst/>
          </a:prstGeom>
          <a:solidFill>
            <a:srgbClr val="CCDDE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FB6212-4576-AE54-331D-456630163B25}"/>
              </a:ext>
            </a:extLst>
          </p:cNvPr>
          <p:cNvSpPr/>
          <p:nvPr/>
        </p:nvSpPr>
        <p:spPr>
          <a:xfrm>
            <a:off x="7557474" y="2915137"/>
            <a:ext cx="1680307" cy="1680307"/>
          </a:xfrm>
          <a:prstGeom prst="ellipse">
            <a:avLst/>
          </a:prstGeom>
          <a:solidFill>
            <a:srgbClr val="CCDDE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FD17A7-6C46-63C2-FB3D-CFC84DE31A7A}"/>
              </a:ext>
            </a:extLst>
          </p:cNvPr>
          <p:cNvSpPr/>
          <p:nvPr/>
        </p:nvSpPr>
        <p:spPr>
          <a:xfrm>
            <a:off x="9655900" y="2915137"/>
            <a:ext cx="1680307" cy="1680307"/>
          </a:xfrm>
          <a:prstGeom prst="ellipse">
            <a:avLst/>
          </a:prstGeom>
          <a:solidFill>
            <a:srgbClr val="CCDDE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Chat with solid fill">
            <a:extLst>
              <a:ext uri="{FF2B5EF4-FFF2-40B4-BE49-F238E27FC236}">
                <a16:creationId xmlns:a16="http://schemas.microsoft.com/office/drawing/2014/main" id="{7048D6BA-5EDA-7C3C-0740-29216E939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6546" y="3475890"/>
            <a:ext cx="558800" cy="558800"/>
          </a:xfrm>
          <a:prstGeom prst="rect">
            <a:avLst/>
          </a:prstGeom>
        </p:spPr>
      </p:pic>
      <p:pic>
        <p:nvPicPr>
          <p:cNvPr id="13" name="Graphic 12" descr="Bus with solid fill">
            <a:extLst>
              <a:ext uri="{FF2B5EF4-FFF2-40B4-BE49-F238E27FC236}">
                <a16:creationId xmlns:a16="http://schemas.microsoft.com/office/drawing/2014/main" id="{19FD98D5-7A6D-94A8-F8DD-0DBB89095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5528" y="3495427"/>
            <a:ext cx="504090" cy="504090"/>
          </a:xfrm>
          <a:prstGeom prst="rect">
            <a:avLst/>
          </a:prstGeom>
        </p:spPr>
      </p:pic>
      <p:pic>
        <p:nvPicPr>
          <p:cNvPr id="15" name="Graphic 14" descr="Cloud Computing with solid fill">
            <a:extLst>
              <a:ext uri="{FF2B5EF4-FFF2-40B4-BE49-F238E27FC236}">
                <a16:creationId xmlns:a16="http://schemas.microsoft.com/office/drawing/2014/main" id="{B02A8360-AB1D-3A3B-E9F5-D9F9333C90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7384" y="3429000"/>
            <a:ext cx="550985" cy="550985"/>
          </a:xfrm>
          <a:prstGeom prst="rect">
            <a:avLst/>
          </a:prstGeom>
        </p:spPr>
      </p:pic>
      <p:pic>
        <p:nvPicPr>
          <p:cNvPr id="17" name="Graphic 16" descr="Employee badge with solid fill">
            <a:extLst>
              <a:ext uri="{FF2B5EF4-FFF2-40B4-BE49-F238E27FC236}">
                <a16:creationId xmlns:a16="http://schemas.microsoft.com/office/drawing/2014/main" id="{CA067913-DCBB-53F3-A379-2CECD54841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2134" y="3428999"/>
            <a:ext cx="550985" cy="550985"/>
          </a:xfrm>
          <a:prstGeom prst="rect">
            <a:avLst/>
          </a:prstGeom>
        </p:spPr>
      </p:pic>
      <p:pic>
        <p:nvPicPr>
          <p:cNvPr id="19" name="Graphic 18" descr="Presentation with bar chart with solid fill">
            <a:extLst>
              <a:ext uri="{FF2B5EF4-FFF2-40B4-BE49-F238E27FC236}">
                <a16:creationId xmlns:a16="http://schemas.microsoft.com/office/drawing/2014/main" id="{0A339273-B800-3F24-C551-E769511216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20560" y="3495427"/>
            <a:ext cx="550985" cy="5509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CDFDBE-B82B-9BCD-9A8B-38E1A931465D}"/>
              </a:ext>
            </a:extLst>
          </p:cNvPr>
          <p:cNvSpPr txBox="1"/>
          <p:nvPr/>
        </p:nvSpPr>
        <p:spPr>
          <a:xfrm>
            <a:off x="2028102" y="1691024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F211B8-EDD2-325E-B57C-000F5C5504F7}"/>
              </a:ext>
            </a:extLst>
          </p:cNvPr>
          <p:cNvSpPr txBox="1"/>
          <p:nvPr/>
        </p:nvSpPr>
        <p:spPr>
          <a:xfrm>
            <a:off x="1574153" y="1964634"/>
            <a:ext cx="2171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Scrubbed the datasets to remove redundant entries and ensure unique primary keys.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CE5AB0-A960-97F6-2278-55E3050D8049}"/>
              </a:ext>
            </a:extLst>
          </p:cNvPr>
          <p:cNvSpPr txBox="1"/>
          <p:nvPr/>
        </p:nvSpPr>
        <p:spPr>
          <a:xfrm>
            <a:off x="5589712" y="1696902"/>
            <a:ext cx="14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8F486D-FF13-0315-B8DA-6C732C3228BA}"/>
              </a:ext>
            </a:extLst>
          </p:cNvPr>
          <p:cNvSpPr txBox="1"/>
          <p:nvPr/>
        </p:nvSpPr>
        <p:spPr>
          <a:xfrm>
            <a:off x="5264637" y="1964633"/>
            <a:ext cx="2096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the ROUND function to normalize decimal values for uniform reporting.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9B0C0-B178-3976-8A24-3A1821CA813F}"/>
              </a:ext>
            </a:extLst>
          </p:cNvPr>
          <p:cNvSpPr txBox="1"/>
          <p:nvPr/>
        </p:nvSpPr>
        <p:spPr>
          <a:xfrm>
            <a:off x="9648758" y="1691023"/>
            <a:ext cx="17043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004EC1-C1D7-216D-FFB9-6146BE09198A}"/>
              </a:ext>
            </a:extLst>
          </p:cNvPr>
          <p:cNvSpPr txBox="1"/>
          <p:nvPr/>
        </p:nvSpPr>
        <p:spPr>
          <a:xfrm>
            <a:off x="9300298" y="1998800"/>
            <a:ext cx="2391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for readability and verified consistency across merged datasets.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06451-5912-2D00-90C5-1B3F7B80EBF1}"/>
              </a:ext>
            </a:extLst>
          </p:cNvPr>
          <p:cNvSpPr txBox="1"/>
          <p:nvPr/>
        </p:nvSpPr>
        <p:spPr>
          <a:xfrm>
            <a:off x="3935940" y="5021845"/>
            <a:ext cx="1328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8BB9F6-D990-2E29-55B2-E181A9DB94EC}"/>
              </a:ext>
            </a:extLst>
          </p:cNvPr>
          <p:cNvSpPr txBox="1"/>
          <p:nvPr/>
        </p:nvSpPr>
        <p:spPr>
          <a:xfrm>
            <a:off x="3588978" y="5329622"/>
            <a:ext cx="2000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the AVERAGE function to impute missing numerical data points logically.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DB953E-A9AE-BA5E-660E-5C9B3B09FB41}"/>
              </a:ext>
            </a:extLst>
          </p:cNvPr>
          <p:cNvSpPr txBox="1"/>
          <p:nvPr/>
        </p:nvSpPr>
        <p:spPr>
          <a:xfrm>
            <a:off x="8034215" y="5021844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7E05BF-AC70-7E2D-4B53-D0CDC11AE830}"/>
              </a:ext>
            </a:extLst>
          </p:cNvPr>
          <p:cNvSpPr txBox="1"/>
          <p:nvPr/>
        </p:nvSpPr>
        <p:spPr>
          <a:xfrm>
            <a:off x="7656118" y="5329622"/>
            <a:ext cx="1816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inconsistencies in date and time formats to enable chronological sorting.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9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9B8C-AB06-6D29-33A5-485E6C62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E9CF-45F4-DF5E-5900-B65692E3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546" y="349494"/>
            <a:ext cx="5718908" cy="49456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Workflow via Power Query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37E20-E99C-74C1-141B-38391AF47B6B}"/>
              </a:ext>
            </a:extLst>
          </p:cNvPr>
          <p:cNvSpPr txBox="1"/>
          <p:nvPr/>
        </p:nvSpPr>
        <p:spPr>
          <a:xfrm>
            <a:off x="3496496" y="773665"/>
            <a:ext cx="5081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disparate data sources into a single, unified source of truth.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58AD91-2C77-040C-3CAE-CE4A0A4E9CB8}"/>
              </a:ext>
            </a:extLst>
          </p:cNvPr>
          <p:cNvSpPr/>
          <p:nvPr/>
        </p:nvSpPr>
        <p:spPr>
          <a:xfrm>
            <a:off x="916803" y="2922951"/>
            <a:ext cx="1680307" cy="1680307"/>
          </a:xfrm>
          <a:prstGeom prst="ellipse">
            <a:avLst/>
          </a:prstGeom>
          <a:solidFill>
            <a:srgbClr val="FD838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744DF-6F27-11C6-BD35-6B3C487484D4}"/>
              </a:ext>
            </a:extLst>
          </p:cNvPr>
          <p:cNvSpPr/>
          <p:nvPr/>
        </p:nvSpPr>
        <p:spPr>
          <a:xfrm>
            <a:off x="3694102" y="2930765"/>
            <a:ext cx="1680307" cy="168030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7A89F2-5907-9BF0-6BC6-40331F3814EC}"/>
              </a:ext>
            </a:extLst>
          </p:cNvPr>
          <p:cNvSpPr/>
          <p:nvPr/>
        </p:nvSpPr>
        <p:spPr>
          <a:xfrm>
            <a:off x="6471401" y="2930765"/>
            <a:ext cx="1680307" cy="16803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26FEB6-B844-5B62-AB22-0F5F11B3ED26}"/>
              </a:ext>
            </a:extLst>
          </p:cNvPr>
          <p:cNvSpPr/>
          <p:nvPr/>
        </p:nvSpPr>
        <p:spPr>
          <a:xfrm>
            <a:off x="9248700" y="2952908"/>
            <a:ext cx="1680307" cy="168030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5C42E7-75E3-BAA6-7C9E-E6BE21B0D109}"/>
              </a:ext>
            </a:extLst>
          </p:cNvPr>
          <p:cNvSpPr txBox="1"/>
          <p:nvPr/>
        </p:nvSpPr>
        <p:spPr>
          <a:xfrm>
            <a:off x="2028102" y="1691024"/>
            <a:ext cx="13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D40A0-7127-1564-00F8-32D426A68F68}"/>
              </a:ext>
            </a:extLst>
          </p:cNvPr>
          <p:cNvSpPr txBox="1"/>
          <p:nvPr/>
        </p:nvSpPr>
        <p:spPr>
          <a:xfrm>
            <a:off x="1574153" y="1964634"/>
            <a:ext cx="2171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the nested merged tables to create a flat, structured data hierarchy.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A95E2-718A-1EB2-FD12-22078CA28F28}"/>
              </a:ext>
            </a:extLst>
          </p:cNvPr>
          <p:cNvSpPr txBox="1"/>
          <p:nvPr/>
        </p:nvSpPr>
        <p:spPr>
          <a:xfrm>
            <a:off x="7857338" y="1691023"/>
            <a:ext cx="14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0674C-D4C9-E281-4399-C669EF153BB4}"/>
              </a:ext>
            </a:extLst>
          </p:cNvPr>
          <p:cNvSpPr txBox="1"/>
          <p:nvPr/>
        </p:nvSpPr>
        <p:spPr>
          <a:xfrm>
            <a:off x="7382518" y="1946632"/>
            <a:ext cx="2391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 final check to ensure the merged data was clean and ready for analysis.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8BE8C0-5A3C-4D75-B19A-AD536201FEF6}"/>
              </a:ext>
            </a:extLst>
          </p:cNvPr>
          <p:cNvSpPr txBox="1"/>
          <p:nvPr/>
        </p:nvSpPr>
        <p:spPr>
          <a:xfrm>
            <a:off x="2146718" y="5013087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Join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64C2A3-8F51-77BD-15AB-EDAE7FD00C89}"/>
              </a:ext>
            </a:extLst>
          </p:cNvPr>
          <p:cNvSpPr txBox="1"/>
          <p:nvPr/>
        </p:nvSpPr>
        <p:spPr>
          <a:xfrm>
            <a:off x="1726548" y="5253338"/>
            <a:ext cx="2000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Power Query to merge Dataset 1 and Dataset 2 based on unique common fields.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2EDF4E-8312-00C6-3B71-A409EB3256C0}"/>
              </a:ext>
            </a:extLst>
          </p:cNvPr>
          <p:cNvSpPr txBox="1"/>
          <p:nvPr/>
        </p:nvSpPr>
        <p:spPr>
          <a:xfrm>
            <a:off x="7961276" y="5013087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51CAFC-E421-2D12-728B-E64F201FC702}"/>
              </a:ext>
            </a:extLst>
          </p:cNvPr>
          <p:cNvSpPr txBox="1"/>
          <p:nvPr/>
        </p:nvSpPr>
        <p:spPr>
          <a:xfrm>
            <a:off x="7563798" y="5320864"/>
            <a:ext cx="2000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Dataset 3 via the Append function to finalize the comprehensive record set.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Theatre with solid fill">
            <a:extLst>
              <a:ext uri="{FF2B5EF4-FFF2-40B4-BE49-F238E27FC236}">
                <a16:creationId xmlns:a16="http://schemas.microsoft.com/office/drawing/2014/main" id="{D86C612F-9A67-E345-66A7-ADF4091F4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4110" y="3490215"/>
            <a:ext cx="605692" cy="605692"/>
          </a:xfrm>
          <a:prstGeom prst="rect">
            <a:avLst/>
          </a:prstGeom>
        </p:spPr>
      </p:pic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A576C2BB-AAE7-94A3-9DDC-FB6F2E1AA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1409" y="3429000"/>
            <a:ext cx="605692" cy="605692"/>
          </a:xfrm>
          <a:prstGeom prst="rect">
            <a:avLst/>
          </a:prstGeom>
        </p:spPr>
      </p:pic>
      <p:pic>
        <p:nvPicPr>
          <p:cNvPr id="18" name="Graphic 17" descr="Daily calendar with solid fill">
            <a:extLst>
              <a:ext uri="{FF2B5EF4-FFF2-40B4-BE49-F238E27FC236}">
                <a16:creationId xmlns:a16="http://schemas.microsoft.com/office/drawing/2014/main" id="{A18E511A-D303-22AE-B174-11A71CA99B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8708" y="3471322"/>
            <a:ext cx="605692" cy="605692"/>
          </a:xfrm>
          <a:prstGeom prst="rect">
            <a:avLst/>
          </a:prstGeom>
        </p:spPr>
      </p:pic>
      <p:pic>
        <p:nvPicPr>
          <p:cNvPr id="31" name="Graphic 30" descr="Open book with solid fill">
            <a:extLst>
              <a:ext uri="{FF2B5EF4-FFF2-40B4-BE49-F238E27FC236}">
                <a16:creationId xmlns:a16="http://schemas.microsoft.com/office/drawing/2014/main" id="{48005FA3-CD45-0595-0FE0-C05DB5C9DF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6006" y="3490215"/>
            <a:ext cx="605693" cy="60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7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 animBg="1"/>
      <p:bldP spid="7" grpId="0" animBg="1"/>
      <p:bldP spid="8" grpId="0" animBg="1"/>
      <p:bldP spid="9" grpId="0" animBg="1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7007-333D-DA4C-4F57-F5CAA638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3857B-E4FA-19F1-53F9-BE1017AB17BE}"/>
              </a:ext>
            </a:extLst>
          </p:cNvPr>
          <p:cNvSpPr/>
          <p:nvPr/>
        </p:nvSpPr>
        <p:spPr>
          <a:xfrm>
            <a:off x="10069875" y="2980648"/>
            <a:ext cx="2058481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1B702-711B-6387-B1A1-0F8A92417212}"/>
              </a:ext>
            </a:extLst>
          </p:cNvPr>
          <p:cNvSpPr/>
          <p:nvPr/>
        </p:nvSpPr>
        <p:spPr>
          <a:xfrm>
            <a:off x="7808758" y="2980648"/>
            <a:ext cx="1983154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C8BE21-EF49-4BEE-A317-D634403F4717}"/>
              </a:ext>
            </a:extLst>
          </p:cNvPr>
          <p:cNvSpPr/>
          <p:nvPr/>
        </p:nvSpPr>
        <p:spPr>
          <a:xfrm>
            <a:off x="5387011" y="2958674"/>
            <a:ext cx="1983154" cy="2062072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77A121-07EC-EB72-8AE9-EA0D780D956A}"/>
              </a:ext>
            </a:extLst>
          </p:cNvPr>
          <p:cNvSpPr/>
          <p:nvPr/>
        </p:nvSpPr>
        <p:spPr>
          <a:xfrm>
            <a:off x="2891877" y="2960989"/>
            <a:ext cx="2058481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C2E6B4-6AFF-3A1F-BB0E-E26C373B9539}"/>
              </a:ext>
            </a:extLst>
          </p:cNvPr>
          <p:cNvSpPr/>
          <p:nvPr/>
        </p:nvSpPr>
        <p:spPr>
          <a:xfrm>
            <a:off x="469150" y="2960989"/>
            <a:ext cx="1983154" cy="2027360"/>
          </a:xfrm>
          <a:prstGeom prst="rect">
            <a:avLst/>
          </a:prstGeom>
          <a:solidFill>
            <a:srgbClr val="CCDDEA"/>
          </a:solidFill>
          <a:ln>
            <a:solidFill>
              <a:srgbClr val="D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9C995-7ACE-6725-CDF8-CE55ADF0A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8427"/>
            <a:ext cx="998415" cy="212847"/>
          </a:xfrm>
        </p:spPr>
        <p:txBody>
          <a:bodyPr>
            <a:normAutofit fontScale="90000"/>
          </a:bodyPr>
          <a:lstStyle/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21BA6-4AE0-1716-4AF4-DAB3DF8ABF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626" y="2960989"/>
            <a:ext cx="2217615" cy="2027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high-volume data using Pivot Tables for multi-dimensional analysis.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64EC31C0-B0F4-5495-7FD5-BDDD3A788595}"/>
              </a:ext>
            </a:extLst>
          </p:cNvPr>
          <p:cNvSpPr/>
          <p:nvPr/>
        </p:nvSpPr>
        <p:spPr>
          <a:xfrm>
            <a:off x="838200" y="1399687"/>
            <a:ext cx="164123" cy="133960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1946F-4310-7358-E3E8-F5738131DC7B}"/>
              </a:ext>
            </a:extLst>
          </p:cNvPr>
          <p:cNvSpPr txBox="1"/>
          <p:nvPr/>
        </p:nvSpPr>
        <p:spPr>
          <a:xfrm>
            <a:off x="724876" y="1474850"/>
            <a:ext cx="3454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Analytical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137C1-47F8-6F4A-360B-FBB01EB93816}"/>
              </a:ext>
            </a:extLst>
          </p:cNvPr>
          <p:cNvSpPr txBox="1"/>
          <p:nvPr/>
        </p:nvSpPr>
        <p:spPr>
          <a:xfrm>
            <a:off x="724876" y="1765456"/>
            <a:ext cx="5290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 and tools employed to extract patterns and correlations.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0D29E-FE0B-99E8-8D04-1A145F4ED1BB}"/>
              </a:ext>
            </a:extLst>
          </p:cNvPr>
          <p:cNvSpPr txBox="1"/>
          <p:nvPr/>
        </p:nvSpPr>
        <p:spPr>
          <a:xfrm>
            <a:off x="7808758" y="292771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6D641F-0B33-0BCA-BAEB-BC12DD0FCF66}"/>
              </a:ext>
            </a:extLst>
          </p:cNvPr>
          <p:cNvSpPr txBox="1"/>
          <p:nvPr/>
        </p:nvSpPr>
        <p:spPr>
          <a:xfrm>
            <a:off x="5387011" y="292771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BB0E4-8AC1-6015-4F52-8E1D5B36EAB0}"/>
              </a:ext>
            </a:extLst>
          </p:cNvPr>
          <p:cNvSpPr txBox="1"/>
          <p:nvPr/>
        </p:nvSpPr>
        <p:spPr>
          <a:xfrm>
            <a:off x="2891877" y="292771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C0CDD7-37EC-E489-A420-33E4C3B944DF}"/>
              </a:ext>
            </a:extLst>
          </p:cNvPr>
          <p:cNvSpPr txBox="1"/>
          <p:nvPr/>
        </p:nvSpPr>
        <p:spPr>
          <a:xfrm>
            <a:off x="2978031" y="3999774"/>
            <a:ext cx="2214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trends through dynamic Bar, Pie, and Line charts for intuitive reporting.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2D2D0B-91D0-6AC2-7B4B-D9D316A2D34A}"/>
              </a:ext>
            </a:extLst>
          </p:cNvPr>
          <p:cNvSpPr txBox="1"/>
          <p:nvPr/>
        </p:nvSpPr>
        <p:spPr>
          <a:xfrm>
            <a:off x="5560344" y="3972686"/>
            <a:ext cx="1809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statistical relationships between variables using Correlation Analysis.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3DEA3-5764-F55F-0E8F-6CB5E06868DE}"/>
              </a:ext>
            </a:extLst>
          </p:cNvPr>
          <p:cNvSpPr txBox="1"/>
          <p:nvPr/>
        </p:nvSpPr>
        <p:spPr>
          <a:xfrm>
            <a:off x="7808758" y="4012721"/>
            <a:ext cx="2172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data dispersion and consistency through Standard Deviation metrics.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2ED8E-7A96-0550-EF25-FA8D9499DE2E}"/>
              </a:ext>
            </a:extLst>
          </p:cNvPr>
          <p:cNvSpPr txBox="1"/>
          <p:nvPr/>
        </p:nvSpPr>
        <p:spPr>
          <a:xfrm>
            <a:off x="10029917" y="292771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EAF42-C940-C2DD-B7E7-88394C087010}"/>
              </a:ext>
            </a:extLst>
          </p:cNvPr>
          <p:cNvSpPr txBox="1"/>
          <p:nvPr/>
        </p:nvSpPr>
        <p:spPr>
          <a:xfrm>
            <a:off x="10145201" y="4012721"/>
            <a:ext cx="198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and tracked KPI Metrics to monitor business performance at a glance.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58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charRg st="4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0" grpId="0" animBg="1"/>
      <p:bldP spid="9" grpId="0" animBg="1"/>
      <p:bldP spid="8" grpId="0" animBg="1"/>
      <p:bldP spid="2" grpId="0"/>
      <p:bldP spid="3" grpId="0" build="p"/>
      <p:bldP spid="5" grpId="0" animBg="1"/>
      <p:bldP spid="6" grpId="0"/>
      <p:bldP spid="7" grpId="0"/>
      <p:bldP spid="14" grpId="0"/>
      <p:bldP spid="15" grpId="0"/>
      <p:bldP spid="16" grpId="0"/>
      <p:bldP spid="18" grpId="0"/>
      <p:bldP spid="19" grpId="0"/>
      <p:bldP spid="20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3C95-3A58-31B5-517A-467D742D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2498" y="871268"/>
            <a:ext cx="1547004" cy="181155"/>
          </a:xfrm>
        </p:spPr>
        <p:txBody>
          <a:bodyPr>
            <a:no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88750-0606-08A3-599F-1839FB28C708}"/>
              </a:ext>
            </a:extLst>
          </p:cNvPr>
          <p:cNvSpPr txBox="1"/>
          <p:nvPr/>
        </p:nvSpPr>
        <p:spPr>
          <a:xfrm>
            <a:off x="4390885" y="961845"/>
            <a:ext cx="341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&amp; User 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2B33-8047-47E0-0D4F-9E50ECC9B054}"/>
              </a:ext>
            </a:extLst>
          </p:cNvPr>
          <p:cNvSpPr txBox="1"/>
          <p:nvPr/>
        </p:nvSpPr>
        <p:spPr>
          <a:xfrm>
            <a:off x="3259581" y="1264355"/>
            <a:ext cx="5672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consistency and contribution of different user types.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F84CA1-DF77-CB39-A3AA-A479C99BDA89}"/>
              </a:ext>
            </a:extLst>
          </p:cNvPr>
          <p:cNvSpPr/>
          <p:nvPr/>
        </p:nvSpPr>
        <p:spPr>
          <a:xfrm>
            <a:off x="1319842" y="2311879"/>
            <a:ext cx="9773728" cy="2078966"/>
          </a:xfrm>
          <a:prstGeom prst="rect">
            <a:avLst/>
          </a:prstGeom>
          <a:solidFill>
            <a:srgbClr val="CCDDEA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0D826-DD53-5BE7-0351-872DC0F2461C}"/>
              </a:ext>
            </a:extLst>
          </p:cNvPr>
          <p:cNvSpPr txBox="1"/>
          <p:nvPr/>
        </p:nvSpPr>
        <p:spPr>
          <a:xfrm>
            <a:off x="2147978" y="2441275"/>
            <a:ext cx="285905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Registered</a:t>
            </a:r>
            <a:endParaRPr lang="en-IN" sz="4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DE5C3-59D0-DF8D-F678-B5F807B65F67}"/>
              </a:ext>
            </a:extLst>
          </p:cNvPr>
          <p:cNvSpPr txBox="1"/>
          <p:nvPr/>
        </p:nvSpPr>
        <p:spPr>
          <a:xfrm>
            <a:off x="7971255" y="2441275"/>
            <a:ext cx="192232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600" b="1" dirty="0">
                <a:solidFill>
                  <a:srgbClr val="E66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Casual</a:t>
            </a:r>
            <a:endParaRPr lang="en-IN" sz="4600" dirty="0">
              <a:solidFill>
                <a:srgbClr val="E66C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299D4-FD9B-6A8B-4D0F-5C526E15EE5D}"/>
              </a:ext>
            </a:extLst>
          </p:cNvPr>
          <p:cNvSpPr txBox="1"/>
          <p:nvPr/>
        </p:nvSpPr>
        <p:spPr>
          <a:xfrm>
            <a:off x="1050422" y="3354897"/>
            <a:ext cx="505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users dominate overall rental patterns and show significantly more stable usage cycles.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23245-3DDA-6E53-23C5-604AD5505825}"/>
              </a:ext>
            </a:extLst>
          </p:cNvPr>
          <p:cNvCxnSpPr/>
          <p:nvPr/>
        </p:nvCxnSpPr>
        <p:spPr>
          <a:xfrm>
            <a:off x="6096000" y="2734574"/>
            <a:ext cx="0" cy="11435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1127FF-BFFB-CA38-A36E-6F9C325823FD}"/>
              </a:ext>
            </a:extLst>
          </p:cNvPr>
          <p:cNvSpPr txBox="1"/>
          <p:nvPr/>
        </p:nvSpPr>
        <p:spPr>
          <a:xfrm>
            <a:off x="6098611" y="3354897"/>
            <a:ext cx="5107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users show higher standard deviation, indicating their demand is more unpredictable.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2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7" grpId="0"/>
      <p:bldP spid="8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BD9A-DBF0-2C6D-5423-D126C052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068"/>
            <a:ext cx="1352909" cy="181156"/>
          </a:xfrm>
        </p:spPr>
        <p:txBody>
          <a:bodyPr>
            <a:no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14672-92DA-8259-56F6-00C2B0B94E7F}"/>
              </a:ext>
            </a:extLst>
          </p:cNvPr>
          <p:cNvSpPr txBox="1"/>
          <p:nvPr/>
        </p:nvSpPr>
        <p:spPr>
          <a:xfrm>
            <a:off x="838200" y="595224"/>
            <a:ext cx="302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Correlation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20455-7631-7FC8-F39B-3012C1BFA14A}"/>
              </a:ext>
            </a:extLst>
          </p:cNvPr>
          <p:cNvSpPr txBox="1"/>
          <p:nvPr/>
        </p:nvSpPr>
        <p:spPr>
          <a:xfrm>
            <a:off x="838200" y="871870"/>
            <a:ext cx="5006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Quantifying the impact of meteorological factors on rental volume.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2F38D3-FEEE-C201-721D-44B0D29F0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20626"/>
              </p:ext>
            </p:extLst>
          </p:nvPr>
        </p:nvGraphicFramePr>
        <p:xfrm>
          <a:off x="936446" y="1574800"/>
          <a:ext cx="10467675" cy="441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225">
                  <a:extLst>
                    <a:ext uri="{9D8B030D-6E8A-4147-A177-3AD203B41FA5}">
                      <a16:colId xmlns:a16="http://schemas.microsoft.com/office/drawing/2014/main" val="543288921"/>
                    </a:ext>
                  </a:extLst>
                </a:gridCol>
                <a:gridCol w="3489225">
                  <a:extLst>
                    <a:ext uri="{9D8B030D-6E8A-4147-A177-3AD203B41FA5}">
                      <a16:colId xmlns:a16="http://schemas.microsoft.com/office/drawing/2014/main" val="2985255895"/>
                    </a:ext>
                  </a:extLst>
                </a:gridCol>
                <a:gridCol w="3489225">
                  <a:extLst>
                    <a:ext uri="{9D8B030D-6E8A-4147-A177-3AD203B41FA5}">
                      <a16:colId xmlns:a16="http://schemas.microsoft.com/office/drawing/2014/main" val="3844131860"/>
                    </a:ext>
                  </a:extLst>
                </a:gridCol>
              </a:tblGrid>
              <a:tr h="882266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Impact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60706"/>
                  </a:ext>
                </a:extLst>
              </a:tr>
              <a:tr h="882266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4559463"/>
                  </a:ext>
                </a:extLst>
              </a:tr>
              <a:tr h="882266"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Assumed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</a:t>
                      </a:r>
                    </a:p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92770"/>
                  </a:ext>
                </a:extLst>
              </a:tr>
              <a:tr h="882266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881448"/>
                  </a:ext>
                </a:extLst>
              </a:tr>
              <a:tr h="882266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Negligible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65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50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153B-9BDD-3AA8-4607-BEADD190F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471" y="871268"/>
            <a:ext cx="1607389" cy="207034"/>
          </a:xfrm>
        </p:spPr>
        <p:txBody>
          <a:bodyPr>
            <a:no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22B83-B059-96F8-D103-D8C1B0FD233B}"/>
              </a:ext>
            </a:extLst>
          </p:cNvPr>
          <p:cNvSpPr txBox="1"/>
          <p:nvPr/>
        </p:nvSpPr>
        <p:spPr>
          <a:xfrm>
            <a:off x="1431985" y="974785"/>
            <a:ext cx="347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Influence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92421-4D7F-5A20-F320-15176EBAB05F}"/>
              </a:ext>
            </a:extLst>
          </p:cNvPr>
          <p:cNvSpPr txBox="1"/>
          <p:nvPr/>
        </p:nvSpPr>
        <p:spPr>
          <a:xfrm>
            <a:off x="1431985" y="1293745"/>
            <a:ext cx="4549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 from weather-based rental behavior analysis.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Coffee with solid fill">
            <a:extLst>
              <a:ext uri="{FF2B5EF4-FFF2-40B4-BE49-F238E27FC236}">
                <a16:creationId xmlns:a16="http://schemas.microsoft.com/office/drawing/2014/main" id="{4A310701-3C88-2CE8-7E34-23772EC8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1471" y="2833777"/>
            <a:ext cx="892834" cy="892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90D9C6-BD4E-52AE-22DE-72780E6C2181}"/>
              </a:ext>
            </a:extLst>
          </p:cNvPr>
          <p:cNvSpPr txBox="1"/>
          <p:nvPr/>
        </p:nvSpPr>
        <p:spPr>
          <a:xfrm>
            <a:off x="1431985" y="3726611"/>
            <a:ext cx="2024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Sensitivity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AC528A-ECE0-EC27-3F3E-3A2A080FB50E}"/>
              </a:ext>
            </a:extLst>
          </p:cNvPr>
          <p:cNvSpPr txBox="1"/>
          <p:nvPr/>
        </p:nvSpPr>
        <p:spPr>
          <a:xfrm>
            <a:off x="1431985" y="4034388"/>
            <a:ext cx="2932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actual and 'feels-like' temperatures show strong positive impacts on demand, peaking in comfortable ranges.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Sun with solid fill">
            <a:extLst>
              <a:ext uri="{FF2B5EF4-FFF2-40B4-BE49-F238E27FC236}">
                <a16:creationId xmlns:a16="http://schemas.microsoft.com/office/drawing/2014/main" id="{81423671-C20A-A6BF-2CC7-C4B9024AB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9583" y="2833777"/>
            <a:ext cx="892834" cy="892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8BB915-2A30-292E-5F43-3AFF58823C72}"/>
              </a:ext>
            </a:extLst>
          </p:cNvPr>
          <p:cNvSpPr txBox="1"/>
          <p:nvPr/>
        </p:nvSpPr>
        <p:spPr>
          <a:xfrm>
            <a:off x="5633418" y="3726610"/>
            <a:ext cx="1817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Thresholds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6E2D5-D688-D642-B2DB-F6B768C0EDDD}"/>
              </a:ext>
            </a:extLst>
          </p:cNvPr>
          <p:cNvSpPr txBox="1"/>
          <p:nvPr/>
        </p:nvSpPr>
        <p:spPr>
          <a:xfrm>
            <a:off x="5649583" y="4034387"/>
            <a:ext cx="2846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notable negative correlation exists; higher humidity levels directly lead to a reduction in active rentals.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raphic 14" descr="Confused person with solid fill">
            <a:extLst>
              <a:ext uri="{FF2B5EF4-FFF2-40B4-BE49-F238E27FC236}">
                <a16:creationId xmlns:a16="http://schemas.microsoft.com/office/drawing/2014/main" id="{1B4C9ADF-2FE5-C937-49FA-660805E12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16170" y="2833777"/>
            <a:ext cx="892834" cy="8928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2D1654-438F-B8EA-BD8A-C53941B092A1}"/>
              </a:ext>
            </a:extLst>
          </p:cNvPr>
          <p:cNvSpPr txBox="1"/>
          <p:nvPr/>
        </p:nvSpPr>
        <p:spPr>
          <a:xfrm>
            <a:off x="9552055" y="3726609"/>
            <a:ext cx="2167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User Vulnerability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489909-6C66-07F5-1CA1-FE96012A9E0F}"/>
              </a:ext>
            </a:extLst>
          </p:cNvPr>
          <p:cNvSpPr txBox="1"/>
          <p:nvPr/>
        </p:nvSpPr>
        <p:spPr>
          <a:xfrm>
            <a:off x="9552055" y="4034387"/>
            <a:ext cx="2846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users are far more sensitive to weather changes compared to registered users, who rent regardless of conditions.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80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2" grpId="0"/>
      <p:bldP spid="13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5CBA-A7AE-C443-921E-2E6CF9DB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344283" cy="299109"/>
          </a:xfrm>
        </p:spPr>
        <p:txBody>
          <a:bodyPr>
            <a:norm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9C2E5-AB85-497E-DD82-33469FC9A6EB}"/>
              </a:ext>
            </a:extLst>
          </p:cNvPr>
          <p:cNvSpPr txBox="1"/>
          <p:nvPr/>
        </p:nvSpPr>
        <p:spPr>
          <a:xfrm>
            <a:off x="838199" y="514679"/>
            <a:ext cx="314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Peak Usage Hours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A018F-A7E5-DEB6-B31B-4F63423D69AA}"/>
              </a:ext>
            </a:extLst>
          </p:cNvPr>
          <p:cNvSpPr txBox="1"/>
          <p:nvPr/>
        </p:nvSpPr>
        <p:spPr>
          <a:xfrm>
            <a:off x="838199" y="879676"/>
            <a:ext cx="5447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demand distribution revealing peak commuting and leisure times.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6570E47-5341-4E16-8B9F-B8503EA552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9985676"/>
              </p:ext>
            </p:extLst>
          </p:nvPr>
        </p:nvGraphicFramePr>
        <p:xfrm>
          <a:off x="931653" y="1249008"/>
          <a:ext cx="10463841" cy="509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925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Graphic spid="8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98E-5682-57EB-3F1A-145F9745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6255-DA49-F106-31AD-F7DD8EF0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344283" cy="299109"/>
          </a:xfrm>
        </p:spPr>
        <p:txBody>
          <a:bodyPr>
            <a:norm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C44CE-8ABB-80E2-FDA2-D36D2A06E0A7}"/>
              </a:ext>
            </a:extLst>
          </p:cNvPr>
          <p:cNvSpPr txBox="1"/>
          <p:nvPr/>
        </p:nvSpPr>
        <p:spPr>
          <a:xfrm>
            <a:off x="838199" y="514679"/>
            <a:ext cx="353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Weather-Based Usage Breakdown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7C4DC-DB36-45C7-D2BC-9C840B8C458D}"/>
              </a:ext>
            </a:extLst>
          </p:cNvPr>
          <p:cNvSpPr txBox="1"/>
          <p:nvPr/>
        </p:nvSpPr>
        <p:spPr>
          <a:xfrm>
            <a:off x="838199" y="879676"/>
            <a:ext cx="515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demand across different weather conditions.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C1F4690-F045-4575-98ED-50D6A2AED4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000978"/>
              </p:ext>
            </p:extLst>
          </p:nvPr>
        </p:nvGraphicFramePr>
        <p:xfrm>
          <a:off x="838199" y="1656272"/>
          <a:ext cx="10082843" cy="4687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026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96F3-8936-2D89-8B31-C5EE472C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7A08-912F-BDBC-2268-11B9F7A1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344283" cy="299109"/>
          </a:xfrm>
        </p:spPr>
        <p:txBody>
          <a:bodyPr>
            <a:norm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41608-6B88-C021-F18E-9DA66E684081}"/>
              </a:ext>
            </a:extLst>
          </p:cNvPr>
          <p:cNvSpPr txBox="1"/>
          <p:nvPr/>
        </p:nvSpPr>
        <p:spPr>
          <a:xfrm>
            <a:off x="838199" y="514679"/>
            <a:ext cx="307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Demand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5F0A4-4127-7CCB-2321-3F7A092B36C4}"/>
              </a:ext>
            </a:extLst>
          </p:cNvPr>
          <p:cNvSpPr txBox="1"/>
          <p:nvPr/>
        </p:nvSpPr>
        <p:spPr>
          <a:xfrm>
            <a:off x="838199" y="879676"/>
            <a:ext cx="51106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fluctuations in rental volume across the days of the week.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798E7D6-88D5-463E-A489-10661C57E2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125719"/>
              </p:ext>
            </p:extLst>
          </p:nvPr>
        </p:nvGraphicFramePr>
        <p:xfrm>
          <a:off x="838199" y="1734946"/>
          <a:ext cx="10496909" cy="460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618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9712-D08B-4958-B85D-44CB5559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8574"/>
            <a:ext cx="1247804" cy="207034"/>
          </a:xfrm>
        </p:spPr>
        <p:txBody>
          <a:bodyPr>
            <a:no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47526-C91B-F96B-0970-F5B9E3326B8A}"/>
              </a:ext>
            </a:extLst>
          </p:cNvPr>
          <p:cNvSpPr txBox="1"/>
          <p:nvPr/>
        </p:nvSpPr>
        <p:spPr>
          <a:xfrm>
            <a:off x="839788" y="552091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KPIs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6C159-531A-9657-66C8-6C1A5DC137BA}"/>
              </a:ext>
            </a:extLst>
          </p:cNvPr>
          <p:cNvSpPr txBox="1"/>
          <p:nvPr/>
        </p:nvSpPr>
        <p:spPr>
          <a:xfrm>
            <a:off x="836612" y="843061"/>
            <a:ext cx="5445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summarized from the final Excel dashboard.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BF7E05-13F7-6AD3-AFC0-7008A56AC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441808"/>
            <a:ext cx="6971103" cy="48311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88D706-0461-77F4-6422-AC2F30312B37}"/>
              </a:ext>
            </a:extLst>
          </p:cNvPr>
          <p:cNvSpPr/>
          <p:nvPr/>
        </p:nvSpPr>
        <p:spPr>
          <a:xfrm>
            <a:off x="8039818" y="1441808"/>
            <a:ext cx="1811547" cy="1811547"/>
          </a:xfrm>
          <a:prstGeom prst="rect">
            <a:avLst/>
          </a:prstGeom>
          <a:solidFill>
            <a:srgbClr val="CCDDEA"/>
          </a:solidFill>
          <a:ln>
            <a:solidFill>
              <a:srgbClr val="E66C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3E9311-08A1-AE3F-F70A-E3A46B16D49A}"/>
              </a:ext>
            </a:extLst>
          </p:cNvPr>
          <p:cNvSpPr/>
          <p:nvPr/>
        </p:nvSpPr>
        <p:spPr>
          <a:xfrm>
            <a:off x="10083467" y="1441808"/>
            <a:ext cx="1811547" cy="1811547"/>
          </a:xfrm>
          <a:prstGeom prst="rect">
            <a:avLst/>
          </a:prstGeom>
          <a:solidFill>
            <a:srgbClr val="CCDDEA"/>
          </a:solidFill>
          <a:ln>
            <a:solidFill>
              <a:srgbClr val="E66C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4371AD-04BB-876D-85EB-E2F64AFA8475}"/>
              </a:ext>
            </a:extLst>
          </p:cNvPr>
          <p:cNvSpPr/>
          <p:nvPr/>
        </p:nvSpPr>
        <p:spPr>
          <a:xfrm>
            <a:off x="10083468" y="4461435"/>
            <a:ext cx="1811547" cy="1811547"/>
          </a:xfrm>
          <a:prstGeom prst="rect">
            <a:avLst/>
          </a:prstGeom>
          <a:solidFill>
            <a:srgbClr val="CCDDEA"/>
          </a:solidFill>
          <a:ln>
            <a:solidFill>
              <a:srgbClr val="E66C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ACD17-0E65-32A2-5D23-5683D5FA3A0C}"/>
              </a:ext>
            </a:extLst>
          </p:cNvPr>
          <p:cNvSpPr/>
          <p:nvPr/>
        </p:nvSpPr>
        <p:spPr>
          <a:xfrm>
            <a:off x="8039818" y="4461435"/>
            <a:ext cx="1811547" cy="1811547"/>
          </a:xfrm>
          <a:prstGeom prst="rect">
            <a:avLst/>
          </a:prstGeom>
          <a:solidFill>
            <a:srgbClr val="CCDDEA"/>
          </a:solidFill>
          <a:ln>
            <a:solidFill>
              <a:srgbClr val="E66C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D3CA3E-BEF7-2BBB-3199-4B18F6A8EA86}"/>
              </a:ext>
            </a:extLst>
          </p:cNvPr>
          <p:cNvSpPr txBox="1"/>
          <p:nvPr/>
        </p:nvSpPr>
        <p:spPr>
          <a:xfrm>
            <a:off x="8359533" y="1653763"/>
            <a:ext cx="11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58,304</a:t>
            </a:r>
            <a:endParaRPr lang="en-I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066E7E-06F8-7617-B5A4-86743A6037F8}"/>
              </a:ext>
            </a:extLst>
          </p:cNvPr>
          <p:cNvSpPr txBox="1"/>
          <p:nvPr/>
        </p:nvSpPr>
        <p:spPr>
          <a:xfrm>
            <a:off x="8417882" y="2203921"/>
            <a:ext cx="105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Rentals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56A44D-7798-3406-D552-C8286DED08EB}"/>
              </a:ext>
            </a:extLst>
          </p:cNvPr>
          <p:cNvSpPr txBox="1"/>
          <p:nvPr/>
        </p:nvSpPr>
        <p:spPr>
          <a:xfrm>
            <a:off x="8228851" y="2427080"/>
            <a:ext cx="1433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aggregated rentals across all datasets following cleaning and merging.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12AA5-278E-C5ED-7855-69AC3FDD038D}"/>
              </a:ext>
            </a:extLst>
          </p:cNvPr>
          <p:cNvSpPr txBox="1"/>
          <p:nvPr/>
        </p:nvSpPr>
        <p:spPr>
          <a:xfrm>
            <a:off x="10403182" y="1653763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E1B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6,169</a:t>
            </a:r>
            <a:endParaRPr lang="en-IN" sz="2800" dirty="0">
              <a:solidFill>
                <a:srgbClr val="E1BC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09B50F-11C8-DBAE-6030-C724C1643B1A}"/>
              </a:ext>
            </a:extLst>
          </p:cNvPr>
          <p:cNvSpPr txBox="1"/>
          <p:nvPr/>
        </p:nvSpPr>
        <p:spPr>
          <a:xfrm>
            <a:off x="10244260" y="2203921"/>
            <a:ext cx="1489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 Demand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F1CB8A-191B-4676-895F-3E1441862407}"/>
              </a:ext>
            </a:extLst>
          </p:cNvPr>
          <p:cNvSpPr txBox="1"/>
          <p:nvPr/>
        </p:nvSpPr>
        <p:spPr>
          <a:xfrm>
            <a:off x="10113658" y="2480920"/>
            <a:ext cx="17511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single-hour volume recorded at 5:00 PM during the study period.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DB22D9-5BDB-F860-0427-D3EA81B43C42}"/>
              </a:ext>
            </a:extLst>
          </p:cNvPr>
          <p:cNvSpPr txBox="1"/>
          <p:nvPr/>
        </p:nvSpPr>
        <p:spPr>
          <a:xfrm>
            <a:off x="8135914" y="5505707"/>
            <a:ext cx="16648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weather condition that consistently generates the highest rental volume.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6864D-E92D-3B1D-09F7-8D4C1902882C}"/>
              </a:ext>
            </a:extLst>
          </p:cNvPr>
          <p:cNvSpPr txBox="1"/>
          <p:nvPr/>
        </p:nvSpPr>
        <p:spPr>
          <a:xfrm>
            <a:off x="8425256" y="4662160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endParaRPr lang="en-IN" sz="2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17F3A2-1E3A-4E5A-CB27-5261608547FF}"/>
              </a:ext>
            </a:extLst>
          </p:cNvPr>
          <p:cNvSpPr txBox="1"/>
          <p:nvPr/>
        </p:nvSpPr>
        <p:spPr>
          <a:xfrm>
            <a:off x="8256021" y="5228708"/>
            <a:ext cx="1424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Weather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2759C9-0F00-F4A7-7040-76ED78D91FD9}"/>
              </a:ext>
            </a:extLst>
          </p:cNvPr>
          <p:cNvSpPr txBox="1"/>
          <p:nvPr/>
        </p:nvSpPr>
        <p:spPr>
          <a:xfrm>
            <a:off x="10378334" y="4662160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Friday</a:t>
            </a:r>
            <a:endParaRPr lang="en-I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DDE480-1F40-354B-3126-BD3D43779087}"/>
              </a:ext>
            </a:extLst>
          </p:cNvPr>
          <p:cNvSpPr txBox="1"/>
          <p:nvPr/>
        </p:nvSpPr>
        <p:spPr>
          <a:xfrm>
            <a:off x="10582718" y="5228708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Day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066A7-2E15-1D82-6D77-F3C24D7A3273}"/>
              </a:ext>
            </a:extLst>
          </p:cNvPr>
          <p:cNvSpPr txBox="1"/>
          <p:nvPr/>
        </p:nvSpPr>
        <p:spPr>
          <a:xfrm>
            <a:off x="10208547" y="5505707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day of the week with the maximum recorded activity level.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15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9" grpId="0" animBg="1"/>
      <p:bldP spid="10" grpId="0" animBg="1"/>
      <p:bldP spid="11" grpId="0" animBg="1"/>
      <p:bldP spid="12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602F-A977-8DAB-DBE7-ADB18D40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442"/>
            <a:ext cx="1249392" cy="172528"/>
          </a:xfrm>
        </p:spPr>
        <p:txBody>
          <a:bodyPr>
            <a:no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1AF8D-3CFD-F1F0-4E45-828455F97ADA}"/>
              </a:ext>
            </a:extLst>
          </p:cNvPr>
          <p:cNvSpPr txBox="1"/>
          <p:nvPr/>
        </p:nvSpPr>
        <p:spPr>
          <a:xfrm>
            <a:off x="838200" y="586597"/>
            <a:ext cx="3290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Synthesis &amp;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50990-2F5F-EDA2-A649-D840818D81F2}"/>
              </a:ext>
            </a:extLst>
          </p:cNvPr>
          <p:cNvSpPr txBox="1"/>
          <p:nvPr/>
        </p:nvSpPr>
        <p:spPr>
          <a:xfrm>
            <a:off x="838200" y="1280416"/>
            <a:ext cx="67199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an end-to-end data analysis workflow using Excel, from raw data to an interactive dashboard.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cleaned, transformed, and merged using Power Query to ensure accuracy and consistency.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bike rental demand is strongly influenced by time and weather conditions. Peak usage occurs during evening hours, especially around 5:00 PM, while early mornings have the lowest demand. Clear weather significantly increases rentals, whereas rain reduces user activity. Registered users show more consistent behavior compared to casual users.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highlights how data analysis can drive meaningful insights and support better decision-making.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812</Words>
  <Application>Microsoft Office PowerPoint</Application>
  <PresentationFormat>Widescreen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Bike Rental Data Analysis Presentation</vt:lpstr>
      <vt:lpstr> Project Scope</vt:lpstr>
      <vt:lpstr>     Data Inventory</vt:lpstr>
      <vt:lpstr>The Data Cleaning Pipeline</vt:lpstr>
      <vt:lpstr>ETL Workflow via Power Query</vt:lpstr>
      <vt:lpstr>     Methodology</vt:lpstr>
      <vt:lpstr>User Analysis</vt:lpstr>
      <vt:lpstr>Correlation</vt:lpstr>
      <vt:lpstr>Environmental Impact</vt:lpstr>
      <vt:lpstr>Hourly Trends</vt:lpstr>
      <vt:lpstr>Weather Analysis</vt:lpstr>
      <vt:lpstr>Weekly Analysis</vt:lpstr>
      <vt:lpstr>Final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Avik Chowdhury</dc:creator>
  <cp:lastModifiedBy>Avik Chowdhury</cp:lastModifiedBy>
  <cp:revision>1</cp:revision>
  <dcterms:created xsi:type="dcterms:W3CDTF">2026-03-25T17:43:46Z</dcterms:created>
  <dcterms:modified xsi:type="dcterms:W3CDTF">2026-03-25T21:29:35Z</dcterms:modified>
</cp:coreProperties>
</file>